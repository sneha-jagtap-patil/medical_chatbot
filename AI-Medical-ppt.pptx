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Inter Light" panose="020B0604020202020204" charset="0"/>
      <p:regular r:id="rId14"/>
    </p:embeddedFont>
    <p:embeddedFont>
      <p:font typeface="Montserrat Light" panose="00000400000000000000" pitchFamily="2" charset="0"/>
      <p:regular r:id="rId15"/>
    </p:embeddedFont>
    <p:embeddedFont>
      <p:font typeface="Montserrat Medium" panose="000006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2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9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2055" y="2319576"/>
            <a:ext cx="206204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93790" y="27685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Building a Medical Chatbot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793790" y="4526280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production-grade medical chatbot leveraging LangChain's RAG capabilities and Groq's lightning-fast LLM inference to deliver accurate, context-aware responses to healthcare queries through an intuitive web interface.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0569" y="592931"/>
            <a:ext cx="5289709" cy="66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Overview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0569" y="1571387"/>
            <a:ext cx="3725585" cy="3434596"/>
          </a:xfrm>
          <a:prstGeom prst="roundRect">
            <a:avLst>
              <a:gd name="adj" fmla="val 5545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763" y="1790581"/>
            <a:ext cx="634722" cy="63472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308" y="1965007"/>
            <a:ext cx="285631" cy="28563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59763" y="2636877"/>
            <a:ext cx="322778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Medical Query Assistant</a:t>
            </a:r>
            <a:endParaRPr lang="en-US" sz="2050" dirty="0"/>
          </a:p>
        </p:txBody>
      </p:sp>
      <p:sp>
        <p:nvSpPr>
          <p:cNvPr id="8" name="Text 3"/>
          <p:cNvSpPr/>
          <p:nvPr/>
        </p:nvSpPr>
        <p:spPr>
          <a:xfrm>
            <a:off x="959763" y="3094315"/>
            <a:ext cx="3287197" cy="169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Intelligent chatbot designed to answer medical questions using advanced LLM technology and document-based context retrieval.</a:t>
            </a:r>
            <a:endParaRPr lang="en-US" sz="1650" dirty="0"/>
          </a:p>
        </p:txBody>
      </p:sp>
      <p:sp>
        <p:nvSpPr>
          <p:cNvPr id="9" name="Shape 4"/>
          <p:cNvSpPr/>
          <p:nvPr/>
        </p:nvSpPr>
        <p:spPr>
          <a:xfrm>
            <a:off x="4677728" y="1571387"/>
            <a:ext cx="3725704" cy="3434596"/>
          </a:xfrm>
          <a:prstGeom prst="roundRect">
            <a:avLst>
              <a:gd name="adj" fmla="val 5545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6922" y="1790581"/>
            <a:ext cx="634722" cy="634722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1467" y="1965007"/>
            <a:ext cx="285631" cy="28563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896922" y="2636877"/>
            <a:ext cx="300489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Flask Web Application</a:t>
            </a:r>
            <a:endParaRPr lang="en-US" sz="2050" dirty="0"/>
          </a:p>
        </p:txBody>
      </p:sp>
      <p:sp>
        <p:nvSpPr>
          <p:cNvPr id="13" name="Text 6"/>
          <p:cNvSpPr/>
          <p:nvPr/>
        </p:nvSpPr>
        <p:spPr>
          <a:xfrm>
            <a:off x="4896922" y="3094315"/>
            <a:ext cx="3287316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Full-stack solution with responsive web interface, backend API integration, and real-time query processing.</a:t>
            </a:r>
            <a:endParaRPr lang="en-US" sz="1650" dirty="0"/>
          </a:p>
        </p:txBody>
      </p:sp>
      <p:sp>
        <p:nvSpPr>
          <p:cNvPr id="14" name="Shape 7"/>
          <p:cNvSpPr/>
          <p:nvPr/>
        </p:nvSpPr>
        <p:spPr>
          <a:xfrm>
            <a:off x="740569" y="5217557"/>
            <a:ext cx="7662863" cy="2419112"/>
          </a:xfrm>
          <a:prstGeom prst="roundRect">
            <a:avLst>
              <a:gd name="adj" fmla="val 7872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9763" y="5436751"/>
            <a:ext cx="634722" cy="634722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34308" y="5611177"/>
            <a:ext cx="285631" cy="285631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59763" y="6283047"/>
            <a:ext cx="305954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LangChain Framework</a:t>
            </a:r>
            <a:endParaRPr lang="en-US" sz="2050" dirty="0"/>
          </a:p>
        </p:txBody>
      </p:sp>
      <p:sp>
        <p:nvSpPr>
          <p:cNvPr id="18" name="Text 9"/>
          <p:cNvSpPr/>
          <p:nvPr/>
        </p:nvSpPr>
        <p:spPr>
          <a:xfrm>
            <a:off x="959763" y="6740485"/>
            <a:ext cx="7224474" cy="6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Implements Retrieval-Augmented Generation (RAG) architecture for contextually accurate medical information retrieval.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2835235"/>
          </a:xfrm>
          <a:prstGeom prst="rect">
            <a:avLst/>
          </a:prstGeom>
          <a:solidFill>
            <a:srgbClr val="DFDFE0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3498413"/>
            <a:ext cx="65384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Core Technology Stack</a:t>
            </a:r>
            <a:endParaRPr lang="en-US" sz="4450" dirty="0"/>
          </a:p>
        </p:txBody>
      </p:sp>
      <p:sp>
        <p:nvSpPr>
          <p:cNvPr id="6" name="Text 2"/>
          <p:cNvSpPr/>
          <p:nvPr/>
        </p:nvSpPr>
        <p:spPr>
          <a:xfrm>
            <a:off x="793790" y="4774168"/>
            <a:ext cx="39706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Backend &amp; AI Infrastructure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93790" y="53553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Python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Core programming language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93790" y="57975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LangChain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RAG orchestration framework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93790" y="62397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Groq LLM API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Fast inference engine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93790" y="66819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HuggingFace Embeddings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Vector representations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712410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Flask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Web server and API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7599521" y="4774168"/>
            <a:ext cx="36492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Frontend &amp; Development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7599521" y="535531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HTML/CSS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User interface design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7599521" y="57975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JavaScript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Client-side interactions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7599521" y="623970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GitHub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Version control and collaboration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7599521" y="66819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Environment Variables</a:t>
            </a: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- Secure API key management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04042"/>
            <a:ext cx="59203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Groq API Integration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952982"/>
            <a:ext cx="1134070" cy="166985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54674" y="2179796"/>
            <a:ext cx="32355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Secure Authentication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2154674" y="2670215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API keys loaded via environment variables, ensuring sensitive credentials never appear in code repositories.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3622834"/>
            <a:ext cx="1134070" cy="203275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54674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Fast Inference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2154674" y="4340066"/>
            <a:ext cx="61955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Groq's specialized hardware delivers sub-second response times for complex medical queries and document retrieval.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5655588"/>
            <a:ext cx="1134070" cy="166985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54674" y="58824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Reliable Responses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2154674" y="6372820"/>
            <a:ext cx="619553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Consistent, high-quality outputs from state-of-the-art language models with built-in error handling.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4593"/>
            <a:ext cx="68728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LangChain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22044"/>
            <a:ext cx="6407944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1963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Document Loading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686770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Ingest medical knowledge bases, PDFs, and text documents into the system for context retrieval.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428548" y="2667000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3022044"/>
            <a:ext cx="6408063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8548" y="3196352"/>
            <a:ext cx="30091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Embedding Creation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28548" y="3686770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Transform documents into high-dimensional vector representations using HuggingFace models.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141714"/>
            <a:ext cx="6407944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Similarity Search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Perform efficient nearest-neighbor search to find relevant document chunks matching user queries.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141714"/>
            <a:ext cx="6408063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8548" y="5338763"/>
            <a:ext cx="43976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Contextual Answer Generation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428548" y="5829181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Feed retrieved context to Groq LLM to generate accurate, grounded responses to medical questions.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79" y="560308"/>
            <a:ext cx="5080873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RAG Pipeline 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03770" y="1601629"/>
            <a:ext cx="22860" cy="6067663"/>
          </a:xfrm>
          <a:prstGeom prst="roundRect">
            <a:avLst>
              <a:gd name="adj" fmla="val 800148"/>
            </a:avLst>
          </a:prstGeom>
          <a:solidFill>
            <a:srgbClr val="C5C7D2"/>
          </a:solidFill>
          <a:ln/>
        </p:spPr>
      </p:sp>
      <p:sp>
        <p:nvSpPr>
          <p:cNvPr id="4" name="Shape 2"/>
          <p:cNvSpPr/>
          <p:nvPr/>
        </p:nvSpPr>
        <p:spPr>
          <a:xfrm>
            <a:off x="6499860" y="1818799"/>
            <a:ext cx="609600" cy="22860"/>
          </a:xfrm>
          <a:prstGeom prst="roundRect">
            <a:avLst>
              <a:gd name="adj" fmla="val 800148"/>
            </a:avLst>
          </a:prstGeom>
          <a:solidFill>
            <a:srgbClr val="C5C7D2"/>
          </a:solidFill>
          <a:ln/>
        </p:spPr>
      </p:sp>
      <p:sp>
        <p:nvSpPr>
          <p:cNvPr id="5" name="Shape 3"/>
          <p:cNvSpPr/>
          <p:nvPr/>
        </p:nvSpPr>
        <p:spPr>
          <a:xfrm>
            <a:off x="7086600" y="1601629"/>
            <a:ext cx="457200" cy="457200"/>
          </a:xfrm>
          <a:prstGeom prst="roundRect">
            <a:avLst>
              <a:gd name="adj" fmla="val 4000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2800" y="1639729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758684" y="1671399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User Query Input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1279" y="2110859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Medical question entered through web interface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520940" y="3037999"/>
            <a:ext cx="609600" cy="22860"/>
          </a:xfrm>
          <a:prstGeom prst="roundRect">
            <a:avLst>
              <a:gd name="adj" fmla="val 800148"/>
            </a:avLst>
          </a:prstGeom>
          <a:solidFill>
            <a:srgbClr val="C5C7D2"/>
          </a:solidFill>
          <a:ln/>
        </p:spPr>
      </p:sp>
      <p:sp>
        <p:nvSpPr>
          <p:cNvPr id="10" name="Shape 8"/>
          <p:cNvSpPr/>
          <p:nvPr/>
        </p:nvSpPr>
        <p:spPr>
          <a:xfrm>
            <a:off x="7086600" y="2820829"/>
            <a:ext cx="457200" cy="457200"/>
          </a:xfrm>
          <a:prstGeom prst="roundRect">
            <a:avLst>
              <a:gd name="adj" fmla="val 4000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62800" y="2858929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31279" y="2890599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Query Embedding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31279" y="3330059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HuggingFace model converts text to vector representation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9860" y="4088963"/>
            <a:ext cx="609600" cy="22860"/>
          </a:xfrm>
          <a:prstGeom prst="roundRect">
            <a:avLst>
              <a:gd name="adj" fmla="val 800148"/>
            </a:avLst>
          </a:prstGeom>
          <a:solidFill>
            <a:srgbClr val="C5C7D2"/>
          </a:solidFill>
          <a:ln/>
        </p:spPr>
      </p:sp>
      <p:sp>
        <p:nvSpPr>
          <p:cNvPr id="15" name="Shape 13"/>
          <p:cNvSpPr/>
          <p:nvPr/>
        </p:nvSpPr>
        <p:spPr>
          <a:xfrm>
            <a:off x="7086600" y="3871793"/>
            <a:ext cx="457200" cy="457200"/>
          </a:xfrm>
          <a:prstGeom prst="roundRect">
            <a:avLst>
              <a:gd name="adj" fmla="val 4000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2800" y="3909893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10464" y="3941564"/>
            <a:ext cx="258865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Document Retrieval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11279" y="4381024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Vector similarity search finds most relevant context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520940" y="5139928"/>
            <a:ext cx="609600" cy="22860"/>
          </a:xfrm>
          <a:prstGeom prst="roundRect">
            <a:avLst>
              <a:gd name="adj" fmla="val 800148"/>
            </a:avLst>
          </a:prstGeom>
          <a:solidFill>
            <a:srgbClr val="C5C7D2"/>
          </a:solidFill>
          <a:ln/>
        </p:spPr>
      </p:sp>
      <p:sp>
        <p:nvSpPr>
          <p:cNvPr id="20" name="Shape 18"/>
          <p:cNvSpPr/>
          <p:nvPr/>
        </p:nvSpPr>
        <p:spPr>
          <a:xfrm>
            <a:off x="7086600" y="4922758"/>
            <a:ext cx="457200" cy="457200"/>
          </a:xfrm>
          <a:prstGeom prst="roundRect">
            <a:avLst>
              <a:gd name="adj" fmla="val 4000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62800" y="4960858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331279" y="4992529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LLM Processing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31279" y="5431988"/>
            <a:ext cx="558784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Groq generates contextually-aware answer using retrieved documents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9860" y="6190893"/>
            <a:ext cx="609600" cy="22860"/>
          </a:xfrm>
          <a:prstGeom prst="roundRect">
            <a:avLst>
              <a:gd name="adj" fmla="val 800148"/>
            </a:avLst>
          </a:prstGeom>
          <a:solidFill>
            <a:srgbClr val="C5C7D2"/>
          </a:solidFill>
          <a:ln/>
        </p:spPr>
      </p:sp>
      <p:sp>
        <p:nvSpPr>
          <p:cNvPr id="25" name="Shape 23"/>
          <p:cNvSpPr/>
          <p:nvPr/>
        </p:nvSpPr>
        <p:spPr>
          <a:xfrm>
            <a:off x="7086600" y="5973723"/>
            <a:ext cx="457200" cy="457200"/>
          </a:xfrm>
          <a:prstGeom prst="roundRect">
            <a:avLst>
              <a:gd name="adj" fmla="val 40007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62800" y="6011823"/>
            <a:ext cx="304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758684" y="6043493"/>
            <a:ext cx="254043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Response Display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11279" y="6482953"/>
            <a:ext cx="5587841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5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Formatted answer rendered on web UI for user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557" y="507206"/>
            <a:ext cx="4611529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Structure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5557" y="1452443"/>
            <a:ext cx="13339286" cy="1108472"/>
          </a:xfrm>
          <a:prstGeom prst="roundRect">
            <a:avLst>
              <a:gd name="adj" fmla="val 14977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8417" y="1475303"/>
            <a:ext cx="737830" cy="1062752"/>
          </a:xfrm>
          <a:prstGeom prst="roundRect">
            <a:avLst>
              <a:gd name="adj" fmla="val 18783"/>
            </a:avLst>
          </a:prstGeom>
          <a:solidFill>
            <a:srgbClr val="EFF0F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231" y="1868329"/>
            <a:ext cx="276582" cy="2765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90675" y="1659731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app.py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90675" y="2058591"/>
            <a:ext cx="12186880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Main Flask application handling routes, request processing, and response rendering for the web interface.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5557" y="2745343"/>
            <a:ext cx="13339286" cy="1108472"/>
          </a:xfrm>
          <a:prstGeom prst="roundRect">
            <a:avLst>
              <a:gd name="adj" fmla="val 14977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68417" y="2768203"/>
            <a:ext cx="737830" cy="1062752"/>
          </a:xfrm>
          <a:prstGeom prst="roundRect">
            <a:avLst>
              <a:gd name="adj" fmla="val 18783"/>
            </a:avLst>
          </a:prstGeom>
          <a:solidFill>
            <a:srgbClr val="EFF0F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5231" y="3161228"/>
            <a:ext cx="276582" cy="2765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90675" y="2952631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src/helper.py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590675" y="3351490"/>
            <a:ext cx="12186880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Utility functions for embeddings generation, document loading, and vector database operations.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45557" y="4038243"/>
            <a:ext cx="13339286" cy="1108472"/>
          </a:xfrm>
          <a:prstGeom prst="roundRect">
            <a:avLst>
              <a:gd name="adj" fmla="val 14977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68417" y="4061103"/>
            <a:ext cx="737830" cy="1062752"/>
          </a:xfrm>
          <a:prstGeom prst="roundRect">
            <a:avLst>
              <a:gd name="adj" fmla="val 18783"/>
            </a:avLst>
          </a:prstGeom>
          <a:solidFill>
            <a:srgbClr val="EFF0F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5231" y="4454128"/>
            <a:ext cx="276582" cy="2765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90675" y="4245531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src/prompt.py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590675" y="4644390"/>
            <a:ext cx="12186880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Engineered prompt templates optimized for medical domain queries and response formatting.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45557" y="5331143"/>
            <a:ext cx="13339286" cy="1108472"/>
          </a:xfrm>
          <a:prstGeom prst="roundRect">
            <a:avLst>
              <a:gd name="adj" fmla="val 14977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68417" y="5354002"/>
            <a:ext cx="737830" cy="1062752"/>
          </a:xfrm>
          <a:prstGeom prst="roundRect">
            <a:avLst>
              <a:gd name="adj" fmla="val 18783"/>
            </a:avLst>
          </a:prstGeom>
          <a:solidFill>
            <a:srgbClr val="EFF0F6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5231" y="5747028"/>
            <a:ext cx="276582" cy="27658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90675" y="5538430"/>
            <a:ext cx="2522220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templates/index.html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590675" y="5937290"/>
            <a:ext cx="12186880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Frontend user interface with input forms, chat display, and interactive elements.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45557" y="6624042"/>
            <a:ext cx="13339286" cy="1108472"/>
          </a:xfrm>
          <a:prstGeom prst="roundRect">
            <a:avLst>
              <a:gd name="adj" fmla="val 14977"/>
            </a:avLst>
          </a:prstGeom>
          <a:solidFill>
            <a:srgbClr val="FFFFFF"/>
          </a:solidFill>
          <a:ln w="22860">
            <a:solidFill>
              <a:srgbClr val="C5C7D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68417" y="6646902"/>
            <a:ext cx="737830" cy="1062752"/>
          </a:xfrm>
          <a:prstGeom prst="roundRect">
            <a:avLst>
              <a:gd name="adj" fmla="val 18783"/>
            </a:avLst>
          </a:prstGeom>
          <a:solidFill>
            <a:srgbClr val="EFF0F6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5231" y="7039928"/>
            <a:ext cx="276582" cy="27658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90675" y="6831330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static/style.css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1590675" y="7230189"/>
            <a:ext cx="12186880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Styling and layout definitions ensuring responsive, professional appearance across devices.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9610" y="833199"/>
            <a:ext cx="7764780" cy="1231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Key Implementation Highlights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89610" y="2556986"/>
            <a:ext cx="2240399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RAG Architecture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89610" y="3061811"/>
            <a:ext cx="2240399" cy="1576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Implements retrieval-augmented generation for grounded, factual responses rather than hallucinated content.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3418165" y="2556986"/>
            <a:ext cx="2240399" cy="6157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Production-Ready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418165" y="3369707"/>
            <a:ext cx="2240399" cy="1576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Secure API key management, error handling, and scalable Flask deployment structure.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146721" y="2556986"/>
            <a:ext cx="2322790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Extensible Design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146721" y="3061811"/>
            <a:ext cx="2322790" cy="1261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Modular codebase allows easy integration of new features and model upgrades.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89610" y="5443418"/>
            <a:ext cx="2424113" cy="65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00"/>
              </a:lnSpc>
              <a:buNone/>
            </a:pPr>
            <a:r>
              <a:rPr lang="en-US" sz="51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3</a:t>
            </a:r>
            <a:endParaRPr lang="en-US" sz="5100" dirty="0"/>
          </a:p>
        </p:txBody>
      </p:sp>
      <p:sp>
        <p:nvSpPr>
          <p:cNvPr id="11" name="Text 8"/>
          <p:cNvSpPr/>
          <p:nvPr/>
        </p:nvSpPr>
        <p:spPr>
          <a:xfrm>
            <a:off x="689610" y="6339840"/>
            <a:ext cx="2424113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Core Components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89610" y="6765846"/>
            <a:ext cx="2424113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LangChain, Groq, HuggingFace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359944" y="5443418"/>
            <a:ext cx="2424113" cy="65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00"/>
              </a:lnSpc>
              <a:buNone/>
            </a:pPr>
            <a:r>
              <a:rPr lang="en-US" sz="51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5</a:t>
            </a:r>
            <a:endParaRPr lang="en-US" sz="5100" dirty="0"/>
          </a:p>
        </p:txBody>
      </p:sp>
      <p:sp>
        <p:nvSpPr>
          <p:cNvPr id="14" name="Text 11"/>
          <p:cNvSpPr/>
          <p:nvPr/>
        </p:nvSpPr>
        <p:spPr>
          <a:xfrm>
            <a:off x="3359944" y="6339840"/>
            <a:ext cx="2424113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Pipeline Steps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3359944" y="6765846"/>
            <a:ext cx="2424113" cy="315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From query to response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030278" y="5443418"/>
            <a:ext cx="2424113" cy="65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00"/>
              </a:lnSpc>
              <a:buNone/>
            </a:pPr>
            <a:r>
              <a:rPr lang="en-US" sz="51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100%</a:t>
            </a:r>
            <a:endParaRPr lang="en-US" sz="5100" dirty="0"/>
          </a:p>
        </p:txBody>
      </p:sp>
      <p:sp>
        <p:nvSpPr>
          <p:cNvPr id="17" name="Text 14"/>
          <p:cNvSpPr/>
          <p:nvPr/>
        </p:nvSpPr>
        <p:spPr>
          <a:xfrm>
            <a:off x="6030278" y="6339840"/>
            <a:ext cx="2424113" cy="30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Context-Aware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030278" y="6765846"/>
            <a:ext cx="2424113" cy="6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5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Answers grounded in documents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98188"/>
            <a:ext cx="64725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Future Enhancements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647128"/>
            <a:ext cx="4196358" cy="2819519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51084" y="4904423"/>
            <a:ext cx="33186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Voice Input Integration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51084" y="5394841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Add speech-to-text capabilities for hands-free querying, making the chatbot accessible for healthcare professionals during patient interactions.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4647128"/>
            <a:ext cx="4196358" cy="2819519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74256" y="49044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Cloud Deployment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74256" y="5394841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Deploy to AWS, Azure, or GCP with containerization using Docker for scalability and high availability in production environments.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4647128"/>
            <a:ext cx="4196358" cy="2819519"/>
          </a:xfrm>
          <a:prstGeom prst="roundRect">
            <a:avLst>
              <a:gd name="adj" fmla="val 7240"/>
            </a:avLst>
          </a:prstGeom>
          <a:solidFill>
            <a:srgbClr val="FFFFFF"/>
          </a:solidFill>
          <a:ln w="30480">
            <a:solidFill>
              <a:srgbClr val="C5C7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97427" y="4904423"/>
            <a:ext cx="35504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Multi-Language Support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97427" y="5394841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Implement multilingual embeddings and translation layers to serve global audiences and diverse patient populations.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9228" y="890468"/>
            <a:ext cx="7697391" cy="645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74767D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Project Outcomes &amp; Learning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09228" y="1845707"/>
            <a:ext cx="3745944" cy="2527340"/>
          </a:xfrm>
          <a:prstGeom prst="roundRect">
            <a:avLst>
              <a:gd name="adj" fmla="val 19615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3303" y="2059781"/>
            <a:ext cx="2581870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LangChain Mastery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23303" y="2506385"/>
            <a:ext cx="3317796" cy="1322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Practical implementation of document loaders, vector stores, and chain composition for production RAG systems.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1627" y="1845707"/>
            <a:ext cx="3745944" cy="2527340"/>
          </a:xfrm>
          <a:prstGeom prst="roundRect">
            <a:avLst>
              <a:gd name="adj" fmla="val 19615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75702" y="2059781"/>
            <a:ext cx="2606635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LLM API Integration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375702" y="2506385"/>
            <a:ext cx="3317796" cy="165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Hands-on experience with Groq's inference API, including authentication, prompt engineering, and response handling.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09228" y="4579501"/>
            <a:ext cx="7698343" cy="1535787"/>
          </a:xfrm>
          <a:prstGeom prst="roundRect">
            <a:avLst>
              <a:gd name="adj" fmla="val 32279"/>
            </a:avLst>
          </a:prstGeom>
          <a:solidFill>
            <a:srgbClr val="EFF0F6"/>
          </a:solidFill>
          <a:ln w="7620">
            <a:solidFill>
              <a:srgbClr val="C5C7D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3303" y="4793575"/>
            <a:ext cx="2603778" cy="322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D3E44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RAG System Design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23303" y="5240179"/>
            <a:ext cx="7270194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End-to-end architecture for retrieval-augmented generation, from embeddings to contextual answer generation.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09228" y="6347579"/>
            <a:ext cx="7698343" cy="991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Ready for production:</a:t>
            </a:r>
            <a:r>
              <a:rPr lang="en-US" sz="1600" dirty="0">
                <a:solidFill>
                  <a:srgbClr val="3D3E44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This chatbot demonstrates enterprise-grade patterns for building reliable, context-aware AI assistants that can be adapted to various domains beyond healthcare.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hat">
            <a:extLst>
              <a:ext uri="{FF2B5EF4-FFF2-40B4-BE49-F238E27FC236}">
                <a16:creationId xmlns:a16="http://schemas.microsoft.com/office/drawing/2014/main" id="{1C3C8632-BF8F-A172-0B7C-295B705AB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359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649</Words>
  <Application>Microsoft Office PowerPoint</Application>
  <PresentationFormat>Custom</PresentationFormat>
  <Paragraphs>109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Inter Light</vt:lpstr>
      <vt:lpstr>Montserrat Medium</vt:lpstr>
      <vt:lpstr>Arial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Sneha patil</cp:lastModifiedBy>
  <cp:revision>3</cp:revision>
  <dcterms:created xsi:type="dcterms:W3CDTF">2026-01-05T07:07:55Z</dcterms:created>
  <dcterms:modified xsi:type="dcterms:W3CDTF">2026-01-05T07:25:50Z</dcterms:modified>
</cp:coreProperties>
</file>